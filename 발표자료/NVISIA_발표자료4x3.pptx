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347" r:id="rId2"/>
    <p:sldId id="406" r:id="rId3"/>
    <p:sldId id="407" r:id="rId4"/>
    <p:sldId id="408" r:id="rId5"/>
    <p:sldId id="409" r:id="rId6"/>
    <p:sldId id="410" r:id="rId7"/>
    <p:sldId id="412" r:id="rId8"/>
    <p:sldId id="411" r:id="rId9"/>
    <p:sldId id="40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EA0"/>
    <a:srgbClr val="283445"/>
    <a:srgbClr val="4098D4"/>
    <a:srgbClr val="F47726"/>
    <a:srgbClr val="505C98"/>
    <a:srgbClr val="4041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>
      <p:cViewPr varScale="1">
        <p:scale>
          <a:sx n="147" d="100"/>
          <a:sy n="147" d="100"/>
        </p:scale>
        <p:origin x="210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B5500-0C43-499B-9A99-00973B41D205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1A469-BFBC-4BAA-A041-25C1DA9B30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97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858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91A7-8729-CAB0-EA9D-0ADD6BCB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3175FE-C6BF-C08F-87DA-957CBD289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46FCDB-E9D6-5C18-6F07-7A93D9817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FA153-8A43-6ECB-1262-823473627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19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4A73-70F4-2525-51C2-7D5FF400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BC23AF-21DC-B038-5498-C1192B52F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23CE6-2A2D-9BAE-9267-533FE9E33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284A2-0CA2-E71F-B97D-1B3ACCE8C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5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1D89-31C5-545D-703C-49AA1984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42E38B-3B93-29FC-5647-4FE77E286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C85AD0-0129-DBFD-F5E5-67FFDFFDF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4BBE8A-E211-64B7-F1AE-E2C951C18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277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5B3A-797D-DF78-B2BF-1DCEDD1F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53C364-A6BA-DAAB-CA4A-48016E48C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B3FA7A-F32B-66FE-4F77-00C002F02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E6E4F-617F-FB26-0742-16475BFA8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096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3FBA-3830-967A-216D-116615CA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8C7B8-6257-A713-04A2-359F42A1C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B36F79-A683-BA33-A745-178D8A255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7F122-DD17-D1FE-C247-266BC4C57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8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4485-D05E-77D6-B0D1-7099C716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94F989-99A9-3A99-801D-C372020E6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46DE6E-430B-5681-61C9-BEF795BA7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A742F7-2FB0-CC03-39EB-48A825673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21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1DA3-628B-C9DC-88DF-215FB586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51FEA5-561A-0D0E-7160-3FBCE029C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508B38-DEFB-5174-C132-74AD54CD0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E2082-EFEC-44E2-B769-280176461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76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97E0-7749-2E40-9E16-EB732DE3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693E9-CEEF-C376-C5F4-D6B8C0FE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D07D60-CC9E-8A0B-62A1-A1FBC2A6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80CA0-8C57-DA41-59EA-43EC35AD8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6EDB9-5392-483F-8C27-CF9500C768C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36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46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4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1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7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26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07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82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53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1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30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BF35A-3D40-464B-ABD4-4878C06333C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EADA2-492D-41B0-9555-1307E0039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308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우주, 대기권 밖, 행성, 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836EA-6DF9-9444-FFD3-3C7EE450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4300429"/>
            <a:ext cx="9144003" cy="2557571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3A2570FC-33A2-4F04-3754-82C693D67BE9}"/>
              </a:ext>
            </a:extLst>
          </p:cNvPr>
          <p:cNvGrpSpPr/>
          <p:nvPr/>
        </p:nvGrpSpPr>
        <p:grpSpPr>
          <a:xfrm>
            <a:off x="-3" y="0"/>
            <a:ext cx="9144005" cy="3685486"/>
            <a:chOff x="-3" y="0"/>
            <a:chExt cx="9144005" cy="36854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EF0A82-4873-4930-BFB8-83C4CDCD006C}"/>
                </a:ext>
              </a:extLst>
            </p:cNvPr>
            <p:cNvSpPr txBox="1"/>
            <p:nvPr/>
          </p:nvSpPr>
          <p:spPr>
            <a:xfrm>
              <a:off x="176311" y="3096414"/>
              <a:ext cx="7483290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Team NVISIA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B6A50DA7-C4DD-E69D-C7F5-FEFF4E85A0AC}"/>
                </a:ext>
              </a:extLst>
            </p:cNvPr>
            <p:cNvGrpSpPr/>
            <p:nvPr/>
          </p:nvGrpSpPr>
          <p:grpSpPr>
            <a:xfrm>
              <a:off x="-3" y="0"/>
              <a:ext cx="9144005" cy="3218795"/>
              <a:chOff x="-3" y="0"/>
              <a:chExt cx="9144005" cy="3218795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7023AB79-8DBD-4572-903C-B55134CBBF6A}"/>
                  </a:ext>
                </a:extLst>
              </p:cNvPr>
              <p:cNvGrpSpPr/>
              <p:nvPr/>
            </p:nvGrpSpPr>
            <p:grpSpPr>
              <a:xfrm>
                <a:off x="-3" y="0"/>
                <a:ext cx="9144005" cy="3218795"/>
                <a:chOff x="-3" y="0"/>
                <a:chExt cx="9144005" cy="3218795"/>
              </a:xfrm>
            </p:grpSpPr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90D356EC-76B3-479F-AF5B-4873B7DB500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144002" cy="3113692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8AA833BD-EFBA-4490-8824-4A265295C9B5}"/>
                    </a:ext>
                  </a:extLst>
                </p:cNvPr>
                <p:cNvSpPr/>
                <p:nvPr/>
              </p:nvSpPr>
              <p:spPr>
                <a:xfrm>
                  <a:off x="-3" y="2068375"/>
                  <a:ext cx="9144000" cy="11504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/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F89C29-71C4-433D-AE3A-93E1CC3CC2B3}"/>
                  </a:ext>
                </a:extLst>
              </p:cNvPr>
              <p:cNvSpPr txBox="1"/>
              <p:nvPr/>
            </p:nvSpPr>
            <p:spPr>
              <a:xfrm>
                <a:off x="144779" y="2220491"/>
                <a:ext cx="7317565" cy="837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3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Project NVISIA </a:t>
                </a:r>
                <a:endParaRPr lang="ko-KR" altLang="en-US" sz="36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5AF3EA4-6F18-43FE-9BB6-A8657C1DFF0E}"/>
                  </a:ext>
                </a:extLst>
              </p:cNvPr>
              <p:cNvSpPr txBox="1"/>
              <p:nvPr/>
            </p:nvSpPr>
            <p:spPr>
              <a:xfrm>
                <a:off x="90992" y="1375214"/>
                <a:ext cx="4417945" cy="506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1E4EA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North-Korea Visual Insight with SIA</a:t>
                </a:r>
                <a:endParaRPr lang="ko-KR" altLang="en-US" sz="2000" b="1" dirty="0">
                  <a:solidFill>
                    <a:srgbClr val="1E4E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4" name="그림 3" descr="그래픽, 스크린샷, 그래픽 디자인, 일렉트릭 블루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ACBF06B-7624-EACE-63D4-3D3E44EB0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59601" y="1186738"/>
                <a:ext cx="1202535" cy="676426"/>
              </a:xfrm>
              <a:prstGeom prst="rect">
                <a:avLst/>
              </a:prstGeom>
            </p:spPr>
          </p:pic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6A87B6A-F5F2-9EDF-87C4-BBDE252E27DC}"/>
                </a:ext>
              </a:extLst>
            </p:cNvPr>
            <p:cNvCxnSpPr>
              <a:cxnSpLocks/>
            </p:cNvCxnSpPr>
            <p:nvPr/>
          </p:nvCxnSpPr>
          <p:spPr>
            <a:xfrm>
              <a:off x="144780" y="3140212"/>
              <a:ext cx="7317564" cy="0"/>
            </a:xfrm>
            <a:prstGeom prst="line">
              <a:avLst/>
            </a:prstGeom>
            <a:ln w="762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034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52D20-C79F-3B4D-4FCB-09FADD29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ACFCD550-8CC2-EE79-A97E-97135D301BEC}"/>
              </a:ext>
            </a:extLst>
          </p:cNvPr>
          <p:cNvGrpSpPr/>
          <p:nvPr/>
        </p:nvGrpSpPr>
        <p:grpSpPr>
          <a:xfrm>
            <a:off x="0" y="30804"/>
            <a:ext cx="9144002" cy="3207276"/>
            <a:chOff x="0" y="0"/>
            <a:chExt cx="9144002" cy="320727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3B3F7D7-F919-FCD4-AEEA-4646F808EF5F}"/>
                </a:ext>
              </a:extLst>
            </p:cNvPr>
            <p:cNvSpPr/>
            <p:nvPr/>
          </p:nvSpPr>
          <p:spPr>
            <a:xfrm>
              <a:off x="0" y="0"/>
              <a:ext cx="9144002" cy="311369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DAE9A62-22E1-CFE9-9031-6A28EAC96F1C}"/>
                </a:ext>
              </a:extLst>
            </p:cNvPr>
            <p:cNvSpPr/>
            <p:nvPr/>
          </p:nvSpPr>
          <p:spPr>
            <a:xfrm>
              <a:off x="0" y="2056856"/>
              <a:ext cx="9144000" cy="1150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 descr="블랙, 스크린샷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9F08B7-04A2-6759-6143-56627C654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21" y="704898"/>
            <a:ext cx="1150419" cy="11504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4F6C08-EE9D-CE18-9BB1-CACDD169C4D8}"/>
              </a:ext>
            </a:extLst>
          </p:cNvPr>
          <p:cNvSpPr txBox="1"/>
          <p:nvPr/>
        </p:nvSpPr>
        <p:spPr>
          <a:xfrm>
            <a:off x="1726457" y="919260"/>
            <a:ext cx="1443748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6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목차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E4900-BF9E-7723-B509-2ADED6E44223}"/>
              </a:ext>
            </a:extLst>
          </p:cNvPr>
          <p:cNvSpPr txBox="1"/>
          <p:nvPr/>
        </p:nvSpPr>
        <p:spPr>
          <a:xfrm>
            <a:off x="6237171" y="1478154"/>
            <a:ext cx="2752774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NVISIA</a:t>
            </a:r>
            <a:endParaRPr lang="ko-KR" altLang="en-US" sz="32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937E11-2B14-BEA6-3CB4-A11038376C9A}"/>
              </a:ext>
            </a:extLst>
          </p:cNvPr>
          <p:cNvGrpSpPr/>
          <p:nvPr/>
        </p:nvGrpSpPr>
        <p:grpSpPr>
          <a:xfrm>
            <a:off x="935675" y="2366239"/>
            <a:ext cx="8208326" cy="3935639"/>
            <a:chOff x="781619" y="2490464"/>
            <a:chExt cx="8703869" cy="393563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0585E0-68FD-8F8A-8962-2A2F04F206B3}"/>
                </a:ext>
              </a:extLst>
            </p:cNvPr>
            <p:cNvSpPr txBox="1"/>
            <p:nvPr/>
          </p:nvSpPr>
          <p:spPr>
            <a:xfrm>
              <a:off x="781619" y="2490464"/>
              <a:ext cx="39478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</a:t>
              </a:r>
            </a:p>
            <a:p>
              <a:r>
                <a:rPr lang="ko-KR" altLang="en-US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프로젝트 개요</a:t>
              </a:r>
              <a:endParaRPr lang="en-US" altLang="ko-KR" sz="24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Project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의 시작 배경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0A2FF9-2DB2-0F38-53D4-7149B35EE83C}"/>
                </a:ext>
              </a:extLst>
            </p:cNvPr>
            <p:cNvSpPr txBox="1"/>
            <p:nvPr/>
          </p:nvSpPr>
          <p:spPr>
            <a:xfrm>
              <a:off x="5537609" y="2490464"/>
              <a:ext cx="39478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02</a:t>
              </a:r>
            </a:p>
            <a:p>
              <a:r>
                <a:rPr lang="ko-KR" altLang="en-US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프로젝트 목적</a:t>
              </a:r>
              <a:endParaRPr lang="en-US" altLang="ko-KR" sz="24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서비스로 무엇을 하고자 하는가</a:t>
              </a:r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?</a:t>
              </a:r>
              <a:endParaRPr lang="ko-KR" altLang="en-US" sz="1200" b="1" dirty="0">
                <a:solidFill>
                  <a:schemeClr val="bg2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93DC88-BC19-1917-1A96-1F1FEAD3BA39}"/>
                </a:ext>
              </a:extLst>
            </p:cNvPr>
            <p:cNvSpPr txBox="1"/>
            <p:nvPr/>
          </p:nvSpPr>
          <p:spPr>
            <a:xfrm>
              <a:off x="781619" y="3950452"/>
              <a:ext cx="394787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03</a:t>
              </a:r>
            </a:p>
            <a:p>
              <a:r>
                <a:rPr lang="en-US" altLang="ko-KR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Workflow</a:t>
              </a:r>
            </a:p>
            <a:p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서비스의 흐름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93A4A11-2D4F-7048-2256-1F20AEE1618E}"/>
                </a:ext>
              </a:extLst>
            </p:cNvPr>
            <p:cNvSpPr txBox="1"/>
            <p:nvPr/>
          </p:nvSpPr>
          <p:spPr>
            <a:xfrm>
              <a:off x="5537609" y="3950452"/>
              <a:ext cx="39478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04</a:t>
              </a:r>
            </a:p>
            <a:p>
              <a:r>
                <a:rPr lang="en-US" altLang="ko-KR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Architecture</a:t>
              </a:r>
            </a:p>
            <a:p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서비스를 이루는 세부 기술들</a:t>
              </a:r>
              <a:endParaRPr lang="en-US" altLang="ko-KR" sz="1200" b="1" dirty="0">
                <a:solidFill>
                  <a:schemeClr val="bg2">
                    <a:lumMod val="7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ko-KR" altLang="en-US" sz="105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FE89C1-4AD3-4081-06EC-64F44BF0B76C}"/>
                </a:ext>
              </a:extLst>
            </p:cNvPr>
            <p:cNvSpPr txBox="1"/>
            <p:nvPr/>
          </p:nvSpPr>
          <p:spPr>
            <a:xfrm>
              <a:off x="781619" y="5410440"/>
              <a:ext cx="457440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05</a:t>
              </a:r>
            </a:p>
            <a:p>
              <a:r>
                <a:rPr lang="ko-KR" altLang="en-US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개발 핵심 전략</a:t>
              </a:r>
              <a:endParaRPr lang="en-US" altLang="ko-KR" sz="24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주요 구성 요소 개발</a:t>
              </a:r>
              <a:r>
                <a:rPr lang="en-US" altLang="ko-KR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및 평가를 위한 핵심 전략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7DEE7E-A54B-96A8-5CD9-5111BE749F32}"/>
                </a:ext>
              </a:extLst>
            </p:cNvPr>
            <p:cNvSpPr txBox="1"/>
            <p:nvPr/>
          </p:nvSpPr>
          <p:spPr>
            <a:xfrm>
              <a:off x="5514865" y="5410440"/>
              <a:ext cx="3947879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1E4EA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06</a:t>
              </a:r>
            </a:p>
            <a:p>
              <a:r>
                <a:rPr lang="ko-KR" altLang="en-US" sz="2400" b="1" dirty="0"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결과 및 발전 방향</a:t>
              </a:r>
              <a:endParaRPr lang="en-US" altLang="ko-KR" sz="24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en-US" altLang="ko-KR" sz="105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NVISIA </a:t>
              </a:r>
              <a:r>
                <a:rPr lang="ko-KR" altLang="en-US" sz="1050" b="1" dirty="0">
                  <a:solidFill>
                    <a:schemeClr val="bg2">
                      <a:lumMod val="7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서비스 개발 결과 및 향후 발전 계획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35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CBFE-A445-D5D2-C5F7-B00CFEDE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9912A7-A84F-BDD0-556B-5528BC11DF3E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79D150-3B0C-618D-851F-0BDE8C981177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FA48C2-BF2A-6AF4-91E3-11A82540A782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개요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132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63AE-2DBF-E6C0-1461-5C8D5163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AC9D22-BB29-92DA-9B38-CA2B56DBA2AE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70CF3C4-07CF-CD5C-F575-D283D7947A43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8A36A9-97F3-8E25-9580-EF971C2CC0A5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목적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00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277C-C921-556C-B48B-70679DEE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5A10AAF-4B49-2B3F-92DA-9EEE19E69E3C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163E6D-D50C-F231-E815-E65FEB7867C8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6FB6E6-4AA0-1E2D-5758-B22C3702428B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Workflow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36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06E3-3FB7-A6E6-4F4F-82D1D3B86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B64A452-A9EB-0C35-DEC7-96C2863603F3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D6B8B8E-EF2A-C1E6-E747-93DDA9EB5F51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1DEB11-1DE9-6C1B-789D-0197859D8318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Architecture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48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E9B64-1B0E-5228-FCBE-F254A20F4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36203C4-89A2-4CD8-3D8D-E7C067EC4AA1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51B4161-B6B8-5A2A-867F-AA8467454456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506FC90-FB16-28F2-BF9E-71584F80F3D3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개발 핵심 전략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294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736D4-107F-470C-5B2F-F1CF778E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219C48-9786-98A8-2FC4-10433678FB7F}"/>
              </a:ext>
            </a:extLst>
          </p:cNvPr>
          <p:cNvSpPr/>
          <p:nvPr/>
        </p:nvSpPr>
        <p:spPr>
          <a:xfrm>
            <a:off x="0" y="0"/>
            <a:ext cx="1028700" cy="55113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3600" b="1" dirty="0">
                <a:solidFill>
                  <a:srgbClr val="1E4E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ko-KR" altLang="en-US" sz="3600" b="1" dirty="0">
              <a:solidFill>
                <a:srgbClr val="1E4E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8A16862-DA1E-7250-F6BC-84093F02A3E1}"/>
              </a:ext>
            </a:extLst>
          </p:cNvPr>
          <p:cNvCxnSpPr>
            <a:cxnSpLocks/>
          </p:cNvCxnSpPr>
          <p:nvPr/>
        </p:nvCxnSpPr>
        <p:spPr>
          <a:xfrm>
            <a:off x="0" y="545157"/>
            <a:ext cx="9144000" cy="0"/>
          </a:xfrm>
          <a:prstGeom prst="line">
            <a:avLst/>
          </a:prstGeom>
          <a:ln w="19050">
            <a:solidFill>
              <a:srgbClr val="1E4E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0061D1-418C-CFA3-A170-799BDB915752}"/>
              </a:ext>
            </a:extLst>
          </p:cNvPr>
          <p:cNvSpPr/>
          <p:nvPr/>
        </p:nvSpPr>
        <p:spPr>
          <a:xfrm>
            <a:off x="1094870" y="0"/>
            <a:ext cx="6435483" cy="5511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800" b="1" dirty="0">
                <a:solidFill>
                  <a:schemeClr val="tx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결과 및 발전 방향</a:t>
            </a:r>
            <a:endParaRPr lang="ko-KR" altLang="en-US" sz="2800" b="1" baseline="30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03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B801-C9FC-C461-D57E-BB9DB617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9749833-DB65-B36E-0314-EAAE26630C77}"/>
              </a:ext>
            </a:extLst>
          </p:cNvPr>
          <p:cNvSpPr/>
          <p:nvPr/>
        </p:nvSpPr>
        <p:spPr>
          <a:xfrm>
            <a:off x="0" y="0"/>
            <a:ext cx="9144002" cy="31136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7B958E-7CF2-9C33-4050-C0CC870E8ED9}"/>
              </a:ext>
            </a:extLst>
          </p:cNvPr>
          <p:cNvSpPr/>
          <p:nvPr/>
        </p:nvSpPr>
        <p:spPr>
          <a:xfrm>
            <a:off x="-3" y="2068375"/>
            <a:ext cx="9144000" cy="1150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024451-1CC4-6867-95C6-9B9DF4B97C99}"/>
              </a:ext>
            </a:extLst>
          </p:cNvPr>
          <p:cNvSpPr txBox="1"/>
          <p:nvPr/>
        </p:nvSpPr>
        <p:spPr>
          <a:xfrm>
            <a:off x="1286068" y="2069970"/>
            <a:ext cx="6813068" cy="2018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altLang="ko-KR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3EC4766-9FB1-1503-2EF2-9F86F573FC20}"/>
              </a:ext>
            </a:extLst>
          </p:cNvPr>
          <p:cNvCxnSpPr>
            <a:cxnSpLocks/>
          </p:cNvCxnSpPr>
          <p:nvPr/>
        </p:nvCxnSpPr>
        <p:spPr>
          <a:xfrm>
            <a:off x="1033820" y="3098193"/>
            <a:ext cx="7317564" cy="0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우주, 대기권 밖, 행성, 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FDB6-3082-061A-0E62-FAB4881E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4300429"/>
            <a:ext cx="9144003" cy="2557571"/>
          </a:xfrm>
          <a:prstGeom prst="rect">
            <a:avLst/>
          </a:prstGeom>
        </p:spPr>
      </p:pic>
      <p:pic>
        <p:nvPicPr>
          <p:cNvPr id="4" name="그림 3" descr="그래픽, 스크린샷, 그래픽 디자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E49632-F871-B703-72F9-F6A8E32D6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4" y="1139941"/>
            <a:ext cx="1202535" cy="676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F24491-FBB6-DED5-2357-9D9725E5B5AE}"/>
              </a:ext>
            </a:extLst>
          </p:cNvPr>
          <p:cNvSpPr txBox="1"/>
          <p:nvPr/>
        </p:nvSpPr>
        <p:spPr>
          <a:xfrm>
            <a:off x="6237171" y="1478154"/>
            <a:ext cx="2752774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NVISIA</a:t>
            </a:r>
            <a:endParaRPr lang="ko-KR" altLang="en-US" sz="32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3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1420</TotalTime>
  <Words>105</Words>
  <Application>Microsoft Office PowerPoint</Application>
  <PresentationFormat>화면 슬라이드 쇼(4:3)</PresentationFormat>
  <Paragraphs>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Microsoft GothicNeo</vt:lpstr>
      <vt:lpstr>맑은 고딕</vt:lpstr>
      <vt:lpstr>Aptos</vt:lpstr>
      <vt:lpstr>Aptos Display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Seungwoo Cheon</dc:creator>
  <cp:lastModifiedBy>Seungwoo Cheon</cp:lastModifiedBy>
  <cp:revision>43</cp:revision>
  <dcterms:created xsi:type="dcterms:W3CDTF">2025-11-23T02:09:40Z</dcterms:created>
  <dcterms:modified xsi:type="dcterms:W3CDTF">2025-12-19T07:34:22Z</dcterms:modified>
</cp:coreProperties>
</file>